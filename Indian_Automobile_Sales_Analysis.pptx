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(K units)</c:v>
                </c:pt>
              </c:strCache>
            </c:strRef>
          </c:tx>
          <c:spPr>
            <a:solidFill>
              <a:srgbClr val="1A73E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7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C98-4E0D-A5BE-04B9A6A1876D}"/>
              </c:ext>
            </c:extLst>
          </c:dPt>
          <c:dPt>
            <c:idx val="1"/>
            <c:invertIfNegative val="0"/>
            <c:bubble3D val="0"/>
            <c:spPr>
              <a:solidFill>
                <a:srgbClr val="E871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C98-4E0D-A5BE-04B9A6A1876D}"/>
              </c:ext>
            </c:extLst>
          </c:dPt>
          <c:dPt>
            <c:idx val="2"/>
            <c:invertIfNegative val="0"/>
            <c:bubble3D val="0"/>
            <c:spPr>
              <a:solidFill>
                <a:srgbClr val="8B34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C98-4E0D-A5BE-04B9A6A1876D}"/>
              </c:ext>
            </c:extLst>
          </c:dPt>
          <c:dPt>
            <c:idx val="3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C98-4E0D-A5BE-04B9A6A1876D}"/>
              </c:ext>
            </c:extLst>
          </c:dPt>
          <c:dPt>
            <c:idx val="4"/>
            <c:invertIfNegative val="0"/>
            <c:bubble3D val="0"/>
            <c:spPr>
              <a:solidFill>
                <a:srgbClr val="FF6D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C98-4E0D-A5BE-04B9A6A1876D}"/>
              </c:ext>
            </c:extLst>
          </c:dPt>
          <c:dPt>
            <c:idx val="5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C98-4E0D-A5BE-04B9A6A1876D}"/>
              </c:ext>
            </c:extLst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C98-4E0D-A5BE-04B9A6A1876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Maruti Suzuki</c:v>
                </c:pt>
                <c:pt idx="1">
                  <c:v>Tata</c:v>
                </c:pt>
                <c:pt idx="2">
                  <c:v>Hyundai</c:v>
                </c:pt>
                <c:pt idx="3">
                  <c:v>Toyota</c:v>
                </c:pt>
                <c:pt idx="4">
                  <c:v>Mahindra</c:v>
                </c:pt>
                <c:pt idx="5">
                  <c:v>Kia</c:v>
                </c:pt>
                <c:pt idx="6">
                  <c:v>Others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1039</c:v>
                </c:pt>
                <c:pt idx="1">
                  <c:v>365</c:v>
                </c:pt>
                <c:pt idx="2">
                  <c:v>346</c:v>
                </c:pt>
                <c:pt idx="3">
                  <c:v>311</c:v>
                </c:pt>
                <c:pt idx="4">
                  <c:v>191</c:v>
                </c:pt>
                <c:pt idx="5">
                  <c:v>158</c:v>
                </c:pt>
                <c:pt idx="6">
                  <c:v>128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C98-4E0D-A5BE-04B9A6A187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Sales (K units)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1A73E8"/>
            </a:solidFill>
            <a:ln>
              <a:solidFill>
                <a:srgbClr val="0066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66FF"/>
              </a:solidFill>
              <a:ln>
                <a:solidFill>
                  <a:srgbClr val="0066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3D3-4D36-8589-BE3B3D82FEB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solidFill>
                  <a:srgbClr val="0066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3D3-4D36-8589-BE3B3D82FEB3}"/>
              </c:ext>
            </c:extLst>
          </c:dPt>
          <c:dPt>
            <c:idx val="2"/>
            <c:invertIfNegative val="0"/>
            <c:bubble3D val="0"/>
            <c:spPr>
              <a:solidFill>
                <a:srgbClr val="E8710A"/>
              </a:solidFill>
              <a:ln>
                <a:solidFill>
                  <a:srgbClr val="0066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3D3-4D36-8589-BE3B3D82FEB3}"/>
              </c:ext>
            </c:extLst>
          </c:dPt>
          <c:dPt>
            <c:idx val="3"/>
            <c:invertIfNegative val="0"/>
            <c:bubble3D val="0"/>
            <c:spPr>
              <a:solidFill>
                <a:srgbClr val="1A73E8"/>
              </a:solidFill>
              <a:ln>
                <a:solidFill>
                  <a:srgbClr val="0066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3D3-4D36-8589-BE3B3D82FEB3}"/>
              </c:ext>
            </c:extLst>
          </c:dPt>
          <c:dPt>
            <c:idx val="4"/>
            <c:invertIfNegative val="0"/>
            <c:bubble3D val="0"/>
            <c:spPr>
              <a:solidFill>
                <a:srgbClr val="1A73E8"/>
              </a:solidFill>
              <a:ln>
                <a:solidFill>
                  <a:srgbClr val="0066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3D3-4D36-8589-BE3B3D82FEB3}"/>
              </c:ext>
            </c:extLst>
          </c:dPt>
          <c:dPt>
            <c:idx val="5"/>
            <c:invertIfNegative val="0"/>
            <c:bubble3D val="0"/>
            <c:spPr>
              <a:solidFill>
                <a:srgbClr val="1A73E8"/>
              </a:solidFill>
              <a:ln>
                <a:solidFill>
                  <a:srgbClr val="0066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3D3-4D36-8589-BE3B3D82FEB3}"/>
              </c:ext>
            </c:extLst>
          </c:dPt>
          <c:dPt>
            <c:idx val="6"/>
            <c:invertIfNegative val="0"/>
            <c:bubble3D val="0"/>
            <c:spPr>
              <a:solidFill>
                <a:srgbClr val="8B34C8"/>
              </a:solidFill>
              <a:ln>
                <a:solidFill>
                  <a:srgbClr val="0066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3D3-4D36-8589-BE3B3D82FEB3}"/>
              </c:ext>
            </c:extLst>
          </c:dPt>
          <c:dPt>
            <c:idx val="7"/>
            <c:invertIfNegative val="0"/>
            <c:bubble3D val="0"/>
            <c:spPr>
              <a:solidFill>
                <a:srgbClr val="1A73E8"/>
              </a:solidFill>
              <a:ln>
                <a:solidFill>
                  <a:srgbClr val="0066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33D3-4D36-8589-BE3B3D82FEB3}"/>
              </c:ext>
            </c:extLst>
          </c:dPt>
          <c:dPt>
            <c:idx val="8"/>
            <c:invertIfNegative val="0"/>
            <c:bubble3D val="0"/>
            <c:spPr>
              <a:solidFill>
                <a:srgbClr val="1A73E8"/>
              </a:solidFill>
              <a:ln>
                <a:solidFill>
                  <a:srgbClr val="0066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33D3-4D36-8589-BE3B3D82FEB3}"/>
              </c:ext>
            </c:extLst>
          </c:dPt>
          <c:dPt>
            <c:idx val="9"/>
            <c:invertIfNegative val="0"/>
            <c:bubble3D val="0"/>
            <c:spPr>
              <a:solidFill>
                <a:srgbClr val="1A73E8"/>
              </a:solidFill>
              <a:ln>
                <a:solidFill>
                  <a:srgbClr val="0066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33D3-4D36-8589-BE3B3D82FEB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Dzire</c:v>
                </c:pt>
                <c:pt idx="1">
                  <c:v>Nexon</c:v>
                </c:pt>
                <c:pt idx="2">
                  <c:v>Punch</c:v>
                </c:pt>
                <c:pt idx="3">
                  <c:v>Ertiga</c:v>
                </c:pt>
                <c:pt idx="4">
                  <c:v>Swift</c:v>
                </c:pt>
                <c:pt idx="5">
                  <c:v>Baleno</c:v>
                </c:pt>
                <c:pt idx="6">
                  <c:v>Creta</c:v>
                </c:pt>
                <c:pt idx="7">
                  <c:v>Fronx</c:v>
                </c:pt>
                <c:pt idx="8">
                  <c:v>Brezza</c:v>
                </c:pt>
                <c:pt idx="9">
                  <c:v>Wagon 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123913</c:v>
                </c:pt>
                <c:pt idx="1">
                  <c:v>122540</c:v>
                </c:pt>
                <c:pt idx="2">
                  <c:v>112822</c:v>
                </c:pt>
                <c:pt idx="3">
                  <c:v>104617</c:v>
                </c:pt>
                <c:pt idx="4">
                  <c:v>103513</c:v>
                </c:pt>
                <c:pt idx="5">
                  <c:v>102004</c:v>
                </c:pt>
                <c:pt idx="6">
                  <c:v>99486</c:v>
                </c:pt>
                <c:pt idx="7">
                  <c:v>97384</c:v>
                </c:pt>
                <c:pt idx="8">
                  <c:v>97254</c:v>
                </c:pt>
                <c:pt idx="9">
                  <c:v>95270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3D3-4D36-8589-BE3B3D82FE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B2A"/>
                </a:solidFill>
                <a:latin typeface="Arial"/>
              </a:rPr>
              <a:t>Overall Monthly Sales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Market Sales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Nov-25</c:v>
                </c:pt>
                <c:pt idx="1">
                  <c:v>Dec-25</c:v>
                </c:pt>
                <c:pt idx="2">
                  <c:v>Jan-26</c:v>
                </c:pt>
                <c:pt idx="3">
                  <c:v>Feb-26</c:v>
                </c:pt>
                <c:pt idx="4">
                  <c:v>Mar-26</c:v>
                </c:pt>
                <c:pt idx="5">
                  <c:v>Apr-26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170971</c:v>
                </c:pt>
                <c:pt idx="1">
                  <c:v>178646</c:v>
                </c:pt>
                <c:pt idx="2">
                  <c:v>174529</c:v>
                </c:pt>
                <c:pt idx="3">
                  <c:v>161000</c:v>
                </c:pt>
                <c:pt idx="4">
                  <c:v>166219</c:v>
                </c:pt>
                <c:pt idx="5">
                  <c:v>187704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45E-4333-83DF-D1F0C0DEEA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B2A"/>
                </a:solidFill>
                <a:latin typeface="Arial"/>
              </a:rPr>
              <a:t>Overall MoM% Change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MoM%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B67-405B-97A5-F2FB42EBC477}"/>
              </c:ext>
            </c:extLst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B67-405B-97A5-F2FB42EBC477}"/>
              </c:ext>
            </c:extLst>
          </c:dPt>
          <c:dPt>
            <c:idx val="2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AB67-405B-97A5-F2FB42EBC47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B67-405B-97A5-F2FB42EBC47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AB67-405B-97A5-F2FB42EBC47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Nov→Dec</c:v>
                </c:pt>
                <c:pt idx="1">
                  <c:v>Dec→Jan</c:v>
                </c:pt>
                <c:pt idx="2">
                  <c:v>Jan→Feb</c:v>
                </c:pt>
                <c:pt idx="3">
                  <c:v>Feb→Mar</c:v>
                </c:pt>
                <c:pt idx="4">
                  <c:v>Mar→Apr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</c:v>
                </c:pt>
                <c:pt idx="1">
                  <c:v>-1.9</c:v>
                </c:pt>
                <c:pt idx="2">
                  <c:v>-5.52</c:v>
                </c:pt>
                <c:pt idx="3">
                  <c:v>3.78</c:v>
                </c:pt>
                <c:pt idx="4">
                  <c:v>2.5499999999999998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B67-405B-97A5-F2FB42EBC4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2A"/>
                </a:solidFill>
                <a:latin typeface="Arial"/>
              </a:rPr>
              <a:t>Sales Distribution by Segment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B74-46EA-A400-AFB67A4D25B8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74-46EA-A400-AFB67A4D25B8}"/>
              </c:ext>
            </c:extLst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74-46EA-A400-AFB67A4D25B8}"/>
              </c:ext>
            </c:extLst>
          </c:dPt>
          <c:dPt>
            <c:idx val="3"/>
            <c:bubble3D val="0"/>
            <c:spPr>
              <a:solidFill>
                <a:srgbClr val="8B34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B74-46EA-A400-AFB67A4D25B8}"/>
              </c:ext>
            </c:extLst>
          </c:dPt>
          <c:dPt>
            <c:idx val="4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B74-46EA-A400-AFB67A4D25B8}"/>
              </c:ext>
            </c:extLst>
          </c:dPt>
          <c:dPt>
            <c:idx val="5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B74-46EA-A400-AFB67A4D25B8}"/>
              </c:ext>
            </c:extLst>
          </c:dPt>
          <c:dPt>
            <c:idx val="6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B74-46EA-A400-AFB67A4D25B8}"/>
              </c:ext>
            </c:extLst>
          </c:dPt>
          <c:dLbls>
            <c:dLbl>
              <c:idx val="0"/>
              <c:layout>
                <c:manualLayout>
                  <c:x val="0.12962962962962962"/>
                  <c:y val="9.9206349206349808E-3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B74-46EA-A400-AFB67A4D25B8}"/>
                </c:ext>
              </c:extLst>
            </c:dLbl>
            <c:dLbl>
              <c:idx val="1"/>
              <c:layout>
                <c:manualLayout>
                  <c:x val="-0.1419753086419753"/>
                  <c:y val="0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B74-46EA-A400-AFB67A4D25B8}"/>
                </c:ext>
              </c:extLst>
            </c:dLbl>
            <c:dLbl>
              <c:idx val="2"/>
              <c:layout>
                <c:manualLayout>
                  <c:x val="-0.12345679012345678"/>
                  <c:y val="-5.6216931216931214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B74-46EA-A400-AFB67A4D25B8}"/>
                </c:ext>
              </c:extLst>
            </c:dLbl>
            <c:dLbl>
              <c:idx val="3"/>
              <c:layout>
                <c:manualLayout>
                  <c:x val="-9.2592592592592643E-2"/>
                  <c:y val="-8.9285714285714288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B74-46EA-A400-AFB67A4D25B8}"/>
                </c:ext>
              </c:extLst>
            </c:dLbl>
            <c:dLbl>
              <c:idx val="4"/>
              <c:layout>
                <c:manualLayout>
                  <c:x val="-5.2469135802469133E-2"/>
                  <c:y val="-0.11243386243386246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B74-46EA-A400-AFB67A4D25B8}"/>
                </c:ext>
              </c:extLst>
            </c:dLbl>
            <c:dLbl>
              <c:idx val="5"/>
              <c:layout>
                <c:manualLayout>
                  <c:x val="-6.1728395061728964E-3"/>
                  <c:y val="-0.11574074074074077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B74-46EA-A400-AFB67A4D25B8}"/>
                </c:ext>
              </c:extLst>
            </c:dLbl>
            <c:dLbl>
              <c:idx val="6"/>
              <c:layout>
                <c:manualLayout>
                  <c:x val="-2.7777777777777835E-2"/>
                  <c:y val="-0.12235449735449734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B74-46EA-A400-AFB67A4D25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6"/>
                <c:pt idx="0">
                  <c:v>SUV</c:v>
                </c:pt>
                <c:pt idx="1">
                  <c:v>Hatchback</c:v>
                </c:pt>
                <c:pt idx="2">
                  <c:v>Sedan</c:v>
                </c:pt>
                <c:pt idx="3">
                  <c:v>MPV</c:v>
                </c:pt>
                <c:pt idx="4">
                  <c:v>EV</c:v>
                </c:pt>
                <c:pt idx="5">
                  <c:v>Van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1468</c:v>
                </c:pt>
                <c:pt idx="1">
                  <c:v>547</c:v>
                </c:pt>
                <c:pt idx="2">
                  <c:v>251</c:v>
                </c:pt>
                <c:pt idx="3">
                  <c:v>213</c:v>
                </c:pt>
                <c:pt idx="4">
                  <c:v>29</c:v>
                </c:pt>
                <c:pt idx="5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B74-46EA-A400-AFB67A4D25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D1B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581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project: 6 months of Indian auto sales data analyzed across 94 models and 14 companies using MySQL and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project scope: MySQL was used as the backend database, with product details and monthly sales in two separate tables joined on Model_Name.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headline numbers. Dzire dominated with consistent 19K–23K monthly sales. SUVs make up nearly 57% of all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Maruti Suzuki's dominance is driven by affordable hatchbacks and sedans. Tata's strong SUV lineup is closing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Nexon slightly edges Dzire in total 6-month sales. 7 of the top 10 models belong to Maruti Suzuki, showing their dominance in the volume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February 2026 saw the sharpest decline at -7.74%, likely due to post-budget uncertainty. April rebounded strongly at +12.93%, driven by new launches like Renault Duster and Nissan Gravite.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SUVs make up nearly 57% of all sales, reflecting India's growing preference for utility vehicles. The EV segment is still nascent at just 1.1% despite multiple launches.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headline findings from the dashboard. Each insight is supported by the charts on previous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audience through each component of the dashboard. Emphasize the interactivity — clicking the Treemap or using the Month slicer dynamically updates all visuals.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four key takeaways. End by inviting questions about the methodology, DAX measures used, or insights from specific companies or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🚗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Automobile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 – Apr 2026  |  94 Models  |  14 Companies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MySQL + Power BI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Tables)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9019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Apr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🚘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Tracked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9019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Car Models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Companies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2280" y="96012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19019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6-month sales trends across India's top automobile brands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best-selling models and vehicle segments (SUV, Sedan, EV, etc.)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Month-on-Month (MoM%) changes to detect seasonal patterns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 for data-driven insights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132336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698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6-Month Sales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2.58M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across all models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132336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60120"/>
            <a:ext cx="265176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698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Selling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371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Dzire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— Sedan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132336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960120"/>
            <a:ext cx="26517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698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SUV Sales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1371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8076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56.9% of total market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132336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8036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90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32918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Maruti Suzuki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0040" y="3977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company sales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132336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880360"/>
            <a:ext cx="265176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990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Segment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32918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Sedan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200400" y="3977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best-selling model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28803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132336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2880360"/>
            <a:ext cx="26517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990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Tracked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80760" y="32918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080760" y="3977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14 companies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Company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65760" y="868680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686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Maruti Dominates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40.3% market share — nearly 3× Tata (2nd place)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18745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Tata surging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Nexon + Punch alone contribute 41K+ units/month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28803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Korean brands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+ Kia together hold 19.5% share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52160" y="388620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EV market small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0" y="4206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segment still &lt;2% of total sales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Models by Total Sales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093294906"/>
              </p:ext>
            </p:extLst>
          </p:nvPr>
        </p:nvGraphicFramePr>
        <p:xfrm>
          <a:off x="365760" y="868680"/>
          <a:ext cx="56692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8686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of Top 10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217920" y="14173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23774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Dzire leads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0" y="2788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Dzire edges Tata Nexon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#1 model overall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1.22 lakh units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379476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0" y="3840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Creta from Hyundai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Nexon &amp; Punch from Tata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into Top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>
            <a:extLst>
              <a:ext uri="{FF2B5EF4-FFF2-40B4-BE49-F238E27FC236}">
                <a16:creationId xmlns:a16="http://schemas.microsoft.com/office/drawing/2014/main" id="{97D157C4-D09B-B94D-62F3-9D8D74CD658A}"/>
              </a:ext>
            </a:extLst>
          </p:cNvPr>
          <p:cNvSpPr/>
          <p:nvPr/>
        </p:nvSpPr>
        <p:spPr>
          <a:xfrm>
            <a:off x="274320" y="16687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Month-on-Month (MoM%) Analysis</a:t>
            </a:r>
            <a:endParaRPr lang="en-US" sz="2800" dirty="0"/>
          </a:p>
        </p:txBody>
      </p:sp>
      <p:sp>
        <p:nvSpPr>
          <p:cNvPr id="71" name="Shape 1">
            <a:extLst>
              <a:ext uri="{FF2B5EF4-FFF2-40B4-BE49-F238E27FC236}">
                <a16:creationId xmlns:a16="http://schemas.microsoft.com/office/drawing/2014/main" id="{8BBEFAD7-C436-29A1-A79A-38961478CA8B}"/>
              </a:ext>
            </a:extLst>
          </p:cNvPr>
          <p:cNvSpPr/>
          <p:nvPr/>
        </p:nvSpPr>
        <p:spPr>
          <a:xfrm>
            <a:off x="274320" y="651510"/>
            <a:ext cx="85953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2" name="Chart 71">
            <a:extLst>
              <a:ext uri="{FF2B5EF4-FFF2-40B4-BE49-F238E27FC236}">
                <a16:creationId xmlns:a16="http://schemas.microsoft.com/office/drawing/2014/main" id="{9DED7F80-2F83-C5A9-51E2-6FFF798E7753}"/>
              </a:ext>
            </a:extLst>
          </p:cNvPr>
          <p:cNvGraphicFramePr/>
          <p:nvPr/>
        </p:nvGraphicFramePr>
        <p:xfrm>
          <a:off x="274320" y="742950"/>
          <a:ext cx="51206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3" name="Chart 72">
            <a:extLst>
              <a:ext uri="{FF2B5EF4-FFF2-40B4-BE49-F238E27FC236}">
                <a16:creationId xmlns:a16="http://schemas.microsoft.com/office/drawing/2014/main" id="{0BEE383F-0503-880E-D2FB-3E455E367BA8}"/>
              </a:ext>
            </a:extLst>
          </p:cNvPr>
          <p:cNvGraphicFramePr/>
          <p:nvPr/>
        </p:nvGraphicFramePr>
        <p:xfrm>
          <a:off x="274320" y="3147822"/>
          <a:ext cx="51206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4" name="Shape 2">
            <a:extLst>
              <a:ext uri="{FF2B5EF4-FFF2-40B4-BE49-F238E27FC236}">
                <a16:creationId xmlns:a16="http://schemas.microsoft.com/office/drawing/2014/main" id="{F8730740-8E5A-63B3-4096-3C77E01039D9}"/>
              </a:ext>
            </a:extLst>
          </p:cNvPr>
          <p:cNvSpPr/>
          <p:nvPr/>
        </p:nvSpPr>
        <p:spPr>
          <a:xfrm>
            <a:off x="5623560" y="74295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5" name="Text 3">
            <a:extLst>
              <a:ext uri="{FF2B5EF4-FFF2-40B4-BE49-F238E27FC236}">
                <a16:creationId xmlns:a16="http://schemas.microsoft.com/office/drawing/2014/main" id="{1A308AC7-C3C5-2E61-4526-8DF067ACFEB4}"/>
              </a:ext>
            </a:extLst>
          </p:cNvPr>
          <p:cNvSpPr/>
          <p:nvPr/>
        </p:nvSpPr>
        <p:spPr>
          <a:xfrm>
            <a:off x="5715000" y="78867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→ Dec</a:t>
            </a:r>
            <a:endParaRPr lang="en-US" sz="1000" dirty="0"/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E7BC1844-47F0-3C85-92A9-3D0A852515FC}"/>
              </a:ext>
            </a:extLst>
          </p:cNvPr>
          <p:cNvSpPr/>
          <p:nvPr/>
        </p:nvSpPr>
        <p:spPr>
          <a:xfrm>
            <a:off x="5715000" y="106299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+0.75%</a:t>
            </a:r>
            <a:endParaRPr lang="en-US" sz="1600" dirty="0"/>
          </a:p>
        </p:txBody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0EC1754E-2E9D-2C75-4785-444BB46A6D9E}"/>
              </a:ext>
            </a:extLst>
          </p:cNvPr>
          <p:cNvSpPr/>
          <p:nvPr/>
        </p:nvSpPr>
        <p:spPr>
          <a:xfrm>
            <a:off x="6720840" y="109042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dealer push</a:t>
            </a:r>
            <a:endParaRPr lang="en-US" sz="1000" dirty="0"/>
          </a:p>
        </p:txBody>
      </p:sp>
      <p:sp>
        <p:nvSpPr>
          <p:cNvPr id="78" name="Shape 6">
            <a:extLst>
              <a:ext uri="{FF2B5EF4-FFF2-40B4-BE49-F238E27FC236}">
                <a16:creationId xmlns:a16="http://schemas.microsoft.com/office/drawing/2014/main" id="{A9B57DD3-FD1A-EB05-042D-FFDF17CA4C3A}"/>
              </a:ext>
            </a:extLst>
          </p:cNvPr>
          <p:cNvSpPr/>
          <p:nvPr/>
        </p:nvSpPr>
        <p:spPr>
          <a:xfrm>
            <a:off x="5623560" y="156591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B5A9074E-1C2F-C264-FFCB-904C3C33FF2A}"/>
              </a:ext>
            </a:extLst>
          </p:cNvPr>
          <p:cNvSpPr/>
          <p:nvPr/>
        </p:nvSpPr>
        <p:spPr>
          <a:xfrm>
            <a:off x="5715000" y="161163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→ Jan</a:t>
            </a:r>
            <a:endParaRPr lang="en-US" sz="1000" dirty="0"/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EEE92F20-C405-E327-FE21-BD83222D7F2D}"/>
              </a:ext>
            </a:extLst>
          </p:cNvPr>
          <p:cNvSpPr/>
          <p:nvPr/>
        </p:nvSpPr>
        <p:spPr>
          <a:xfrm>
            <a:off x="5715000" y="188595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-1.90%</a:t>
            </a:r>
            <a:endParaRPr lang="en-US" sz="1600" dirty="0"/>
          </a:p>
        </p:txBody>
      </p:sp>
      <p:sp>
        <p:nvSpPr>
          <p:cNvPr id="81" name="Text 9">
            <a:extLst>
              <a:ext uri="{FF2B5EF4-FFF2-40B4-BE49-F238E27FC236}">
                <a16:creationId xmlns:a16="http://schemas.microsoft.com/office/drawing/2014/main" id="{3130AC50-35C5-6197-CD45-8B1D8B640CF6}"/>
              </a:ext>
            </a:extLst>
          </p:cNvPr>
          <p:cNvSpPr/>
          <p:nvPr/>
        </p:nvSpPr>
        <p:spPr>
          <a:xfrm>
            <a:off x="6720840" y="191338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Post-festive cooldown</a:t>
            </a:r>
            <a:endParaRPr lang="en-US" sz="1000" dirty="0"/>
          </a:p>
        </p:txBody>
      </p:sp>
      <p:sp>
        <p:nvSpPr>
          <p:cNvPr id="82" name="Shape 10">
            <a:extLst>
              <a:ext uri="{FF2B5EF4-FFF2-40B4-BE49-F238E27FC236}">
                <a16:creationId xmlns:a16="http://schemas.microsoft.com/office/drawing/2014/main" id="{92EFFCC5-E20A-B180-8638-B16C64BB193D}"/>
              </a:ext>
            </a:extLst>
          </p:cNvPr>
          <p:cNvSpPr/>
          <p:nvPr/>
        </p:nvSpPr>
        <p:spPr>
          <a:xfrm>
            <a:off x="5623560" y="238887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Text 11">
            <a:extLst>
              <a:ext uri="{FF2B5EF4-FFF2-40B4-BE49-F238E27FC236}">
                <a16:creationId xmlns:a16="http://schemas.microsoft.com/office/drawing/2014/main" id="{5458D0B9-943F-2DB4-6A14-6D59C3B280F3}"/>
              </a:ext>
            </a:extLst>
          </p:cNvPr>
          <p:cNvSpPr/>
          <p:nvPr/>
        </p:nvSpPr>
        <p:spPr>
          <a:xfrm>
            <a:off x="5715000" y="243459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→ Feb</a:t>
            </a:r>
            <a:endParaRPr lang="en-US" sz="1000" dirty="0"/>
          </a:p>
        </p:txBody>
      </p:sp>
      <p:sp>
        <p:nvSpPr>
          <p:cNvPr id="84" name="Text 12">
            <a:extLst>
              <a:ext uri="{FF2B5EF4-FFF2-40B4-BE49-F238E27FC236}">
                <a16:creationId xmlns:a16="http://schemas.microsoft.com/office/drawing/2014/main" id="{D8BA7E98-772E-7C4F-4583-FB3169DE3DBB}"/>
              </a:ext>
            </a:extLst>
          </p:cNvPr>
          <p:cNvSpPr/>
          <p:nvPr/>
        </p:nvSpPr>
        <p:spPr>
          <a:xfrm>
            <a:off x="5715000" y="270891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-5.52%</a:t>
            </a:r>
            <a:endParaRPr lang="en-US" sz="1600" dirty="0"/>
          </a:p>
        </p:txBody>
      </p:sp>
      <p:sp>
        <p:nvSpPr>
          <p:cNvPr id="85" name="Text 13">
            <a:extLst>
              <a:ext uri="{FF2B5EF4-FFF2-40B4-BE49-F238E27FC236}">
                <a16:creationId xmlns:a16="http://schemas.microsoft.com/office/drawing/2014/main" id="{C8084841-0851-9D65-C1BE-A0BB39848C74}"/>
              </a:ext>
            </a:extLst>
          </p:cNvPr>
          <p:cNvSpPr/>
          <p:nvPr/>
        </p:nvSpPr>
        <p:spPr>
          <a:xfrm>
            <a:off x="6720840" y="273634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Sharpest market dip</a:t>
            </a:r>
            <a:endParaRPr lang="en-US" sz="1000" dirty="0"/>
          </a:p>
        </p:txBody>
      </p:sp>
      <p:sp>
        <p:nvSpPr>
          <p:cNvPr id="86" name="Shape 14">
            <a:extLst>
              <a:ext uri="{FF2B5EF4-FFF2-40B4-BE49-F238E27FC236}">
                <a16:creationId xmlns:a16="http://schemas.microsoft.com/office/drawing/2014/main" id="{B3AB19E8-5750-FEBA-FF42-81216F352825}"/>
              </a:ext>
            </a:extLst>
          </p:cNvPr>
          <p:cNvSpPr/>
          <p:nvPr/>
        </p:nvSpPr>
        <p:spPr>
          <a:xfrm>
            <a:off x="5623560" y="321183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7" name="Text 15">
            <a:extLst>
              <a:ext uri="{FF2B5EF4-FFF2-40B4-BE49-F238E27FC236}">
                <a16:creationId xmlns:a16="http://schemas.microsoft.com/office/drawing/2014/main" id="{FCC3407F-2D47-C61B-5814-0F17364AB9CE}"/>
              </a:ext>
            </a:extLst>
          </p:cNvPr>
          <p:cNvSpPr/>
          <p:nvPr/>
        </p:nvSpPr>
        <p:spPr>
          <a:xfrm>
            <a:off x="5715000" y="325755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→ Mar</a:t>
            </a:r>
            <a:endParaRPr lang="en-US" sz="1000" dirty="0"/>
          </a:p>
        </p:txBody>
      </p:sp>
      <p:sp>
        <p:nvSpPr>
          <p:cNvPr id="88" name="Text 16">
            <a:extLst>
              <a:ext uri="{FF2B5EF4-FFF2-40B4-BE49-F238E27FC236}">
                <a16:creationId xmlns:a16="http://schemas.microsoft.com/office/drawing/2014/main" id="{B17B9EE5-2E06-E3C7-B81A-83AC00873E98}"/>
              </a:ext>
            </a:extLst>
          </p:cNvPr>
          <p:cNvSpPr/>
          <p:nvPr/>
        </p:nvSpPr>
        <p:spPr>
          <a:xfrm>
            <a:off x="5715000" y="353187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+3.78%</a:t>
            </a:r>
            <a:endParaRPr lang="en-US" sz="1600" dirty="0"/>
          </a:p>
        </p:txBody>
      </p:sp>
      <p:sp>
        <p:nvSpPr>
          <p:cNvPr id="89" name="Text 17">
            <a:extLst>
              <a:ext uri="{FF2B5EF4-FFF2-40B4-BE49-F238E27FC236}">
                <a16:creationId xmlns:a16="http://schemas.microsoft.com/office/drawing/2014/main" id="{8248837D-2B5B-3675-DDD1-EFBE1FD9CD14}"/>
              </a:ext>
            </a:extLst>
          </p:cNvPr>
          <p:cNvSpPr/>
          <p:nvPr/>
        </p:nvSpPr>
        <p:spPr>
          <a:xfrm>
            <a:off x="6720840" y="355930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begins</a:t>
            </a:r>
            <a:endParaRPr lang="en-US" sz="1000" dirty="0"/>
          </a:p>
        </p:txBody>
      </p:sp>
      <p:sp>
        <p:nvSpPr>
          <p:cNvPr id="90" name="Shape 18">
            <a:extLst>
              <a:ext uri="{FF2B5EF4-FFF2-40B4-BE49-F238E27FC236}">
                <a16:creationId xmlns:a16="http://schemas.microsoft.com/office/drawing/2014/main" id="{A537A6DA-6C95-F6AF-1DE7-9AB7848BD87C}"/>
              </a:ext>
            </a:extLst>
          </p:cNvPr>
          <p:cNvSpPr/>
          <p:nvPr/>
        </p:nvSpPr>
        <p:spPr>
          <a:xfrm>
            <a:off x="5623560" y="403479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1" name="Text 19">
            <a:extLst>
              <a:ext uri="{FF2B5EF4-FFF2-40B4-BE49-F238E27FC236}">
                <a16:creationId xmlns:a16="http://schemas.microsoft.com/office/drawing/2014/main" id="{8BD7D925-5F5D-17E5-F47A-0F219AB8B15B}"/>
              </a:ext>
            </a:extLst>
          </p:cNvPr>
          <p:cNvSpPr/>
          <p:nvPr/>
        </p:nvSpPr>
        <p:spPr>
          <a:xfrm>
            <a:off x="5715000" y="408051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→ Apr</a:t>
            </a:r>
            <a:endParaRPr lang="en-US" sz="1000" dirty="0"/>
          </a:p>
        </p:txBody>
      </p:sp>
      <p:sp>
        <p:nvSpPr>
          <p:cNvPr id="92" name="Text 20">
            <a:extLst>
              <a:ext uri="{FF2B5EF4-FFF2-40B4-BE49-F238E27FC236}">
                <a16:creationId xmlns:a16="http://schemas.microsoft.com/office/drawing/2014/main" id="{44CB441B-15E4-FF6E-2430-B40383069F4E}"/>
              </a:ext>
            </a:extLst>
          </p:cNvPr>
          <p:cNvSpPr/>
          <p:nvPr/>
        </p:nvSpPr>
        <p:spPr>
          <a:xfrm>
            <a:off x="5715000" y="435483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+2.55%</a:t>
            </a:r>
            <a:endParaRPr lang="en-US" sz="1600" dirty="0"/>
          </a:p>
        </p:txBody>
      </p:sp>
      <p:sp>
        <p:nvSpPr>
          <p:cNvPr id="93" name="Text 21">
            <a:extLst>
              <a:ext uri="{FF2B5EF4-FFF2-40B4-BE49-F238E27FC236}">
                <a16:creationId xmlns:a16="http://schemas.microsoft.com/office/drawing/2014/main" id="{C81C9D2F-20FA-5318-ACEA-EC5A8F54E665}"/>
              </a:ext>
            </a:extLst>
          </p:cNvPr>
          <p:cNvSpPr/>
          <p:nvPr/>
        </p:nvSpPr>
        <p:spPr>
          <a:xfrm>
            <a:off x="6720840" y="438226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launches boost demand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00F952-9A69-8440-894F-B534D23317FA}"/>
              </a:ext>
            </a:extLst>
          </p:cNvPr>
          <p:cNvSpPr/>
          <p:nvPr/>
        </p:nvSpPr>
        <p:spPr>
          <a:xfrm>
            <a:off x="274320" y="10287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MoM% — Highest &amp; Lowest Growth by Period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B9D1EB-6804-9AEB-4423-AD604A594BAF}"/>
              </a:ext>
            </a:extLst>
          </p:cNvPr>
          <p:cNvSpPr/>
          <p:nvPr/>
        </p:nvSpPr>
        <p:spPr>
          <a:xfrm>
            <a:off x="274320" y="587502"/>
            <a:ext cx="85953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3B8DB22-DC41-A889-9289-7C10C6564854}"/>
              </a:ext>
            </a:extLst>
          </p:cNvPr>
          <p:cNvSpPr/>
          <p:nvPr/>
        </p:nvSpPr>
        <p:spPr>
          <a:xfrm>
            <a:off x="274320" y="678942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CF9317-B96C-70BF-5FC4-46DCE116691A}"/>
              </a:ext>
            </a:extLst>
          </p:cNvPr>
          <p:cNvSpPr/>
          <p:nvPr/>
        </p:nvSpPr>
        <p:spPr>
          <a:xfrm>
            <a:off x="320040" y="70637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2451B7F-F830-A1DD-D038-29CC42F78974}"/>
              </a:ext>
            </a:extLst>
          </p:cNvPr>
          <p:cNvSpPr/>
          <p:nvPr/>
        </p:nvSpPr>
        <p:spPr>
          <a:xfrm>
            <a:off x="1417320" y="70637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Growth Model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10277F-9875-4AA4-B66A-72657307B10E}"/>
              </a:ext>
            </a:extLst>
          </p:cNvPr>
          <p:cNvSpPr/>
          <p:nvPr/>
        </p:nvSpPr>
        <p:spPr>
          <a:xfrm>
            <a:off x="4069080" y="70637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MoM%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79BB36A-6618-A8B9-8CA3-58CD694A7C70}"/>
              </a:ext>
            </a:extLst>
          </p:cNvPr>
          <p:cNvSpPr/>
          <p:nvPr/>
        </p:nvSpPr>
        <p:spPr>
          <a:xfrm>
            <a:off x="5074920" y="70637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Growth Model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8A535EF-2EDA-948E-944A-6D2F040A6828}"/>
              </a:ext>
            </a:extLst>
          </p:cNvPr>
          <p:cNvSpPr/>
          <p:nvPr/>
        </p:nvSpPr>
        <p:spPr>
          <a:xfrm>
            <a:off x="7955280" y="70637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MoM%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F691D08-0AE3-F364-EEA2-6BDCC00046CB}"/>
              </a:ext>
            </a:extLst>
          </p:cNvPr>
          <p:cNvSpPr/>
          <p:nvPr/>
        </p:nvSpPr>
        <p:spPr>
          <a:xfrm>
            <a:off x="274320" y="1108710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71A2204-C345-5452-45A8-6E12E67E2197}"/>
              </a:ext>
            </a:extLst>
          </p:cNvPr>
          <p:cNvSpPr/>
          <p:nvPr/>
        </p:nvSpPr>
        <p:spPr>
          <a:xfrm>
            <a:off x="320040" y="110871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Nov-Dec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256F7BB-0AD4-6570-532B-E43BCDB5DBF1}"/>
              </a:ext>
            </a:extLst>
          </p:cNvPr>
          <p:cNvSpPr/>
          <p:nvPr/>
        </p:nvSpPr>
        <p:spPr>
          <a:xfrm>
            <a:off x="1389888" y="120015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A6D9106-6ECC-5BC5-6937-35F9850CB316}"/>
              </a:ext>
            </a:extLst>
          </p:cNvPr>
          <p:cNvSpPr/>
          <p:nvPr/>
        </p:nvSpPr>
        <p:spPr>
          <a:xfrm>
            <a:off x="1435608" y="120015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Baleno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6EBCA29-46BC-7F94-2179-9460094864EB}"/>
              </a:ext>
            </a:extLst>
          </p:cNvPr>
          <p:cNvSpPr/>
          <p:nvPr/>
        </p:nvSpPr>
        <p:spPr>
          <a:xfrm>
            <a:off x="4023360" y="110871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+37.65%</a:t>
            </a:r>
            <a:endParaRPr lang="en-US" sz="13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E286071-5D58-121D-977C-F0A492D1CCC7}"/>
              </a:ext>
            </a:extLst>
          </p:cNvPr>
          <p:cNvSpPr/>
          <p:nvPr/>
        </p:nvSpPr>
        <p:spPr>
          <a:xfrm>
            <a:off x="5047488" y="120015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3AF787A-FDC2-B54C-99C0-31E0626102AD}"/>
              </a:ext>
            </a:extLst>
          </p:cNvPr>
          <p:cNvSpPr/>
          <p:nvPr/>
        </p:nvSpPr>
        <p:spPr>
          <a:xfrm>
            <a:off x="5093208" y="120015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Creta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CB99A4E-25B0-52BE-8DC1-E79C441A0505}"/>
              </a:ext>
            </a:extLst>
          </p:cNvPr>
          <p:cNvSpPr/>
          <p:nvPr/>
        </p:nvSpPr>
        <p:spPr>
          <a:xfrm>
            <a:off x="7790688" y="110871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-31.85%</a:t>
            </a:r>
            <a:endParaRPr lang="en-US" sz="13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99EE83F-6AA7-DFA7-72C4-01F6004C3674}"/>
              </a:ext>
            </a:extLst>
          </p:cNvPr>
          <p:cNvSpPr/>
          <p:nvPr/>
        </p:nvSpPr>
        <p:spPr>
          <a:xfrm>
            <a:off x="274320" y="1821942"/>
            <a:ext cx="859536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314C105-A140-6506-DA72-9D69CC2CF643}"/>
              </a:ext>
            </a:extLst>
          </p:cNvPr>
          <p:cNvSpPr/>
          <p:nvPr/>
        </p:nvSpPr>
        <p:spPr>
          <a:xfrm>
            <a:off x="320040" y="182194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Dec-Jan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8C752ED-C26B-8152-1490-7EAEEE0A1427}"/>
              </a:ext>
            </a:extLst>
          </p:cNvPr>
          <p:cNvSpPr/>
          <p:nvPr/>
        </p:nvSpPr>
        <p:spPr>
          <a:xfrm>
            <a:off x="1389888" y="1913382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EC4BDC0-964B-A398-8AA2-47D3C21DF2A2}"/>
              </a:ext>
            </a:extLst>
          </p:cNvPr>
          <p:cNvSpPr/>
          <p:nvPr/>
        </p:nvSpPr>
        <p:spPr>
          <a:xfrm>
            <a:off x="1435608" y="191338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Creta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0CDE537-95E4-7847-D73F-C9848EFDB175}"/>
              </a:ext>
            </a:extLst>
          </p:cNvPr>
          <p:cNvSpPr/>
          <p:nvPr/>
        </p:nvSpPr>
        <p:spPr>
          <a:xfrm>
            <a:off x="4023360" y="1821942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+26.60%</a:t>
            </a:r>
            <a:endParaRPr lang="en-US" sz="13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AE11629-26E8-EE93-F3DC-C6EC641C4E9A}"/>
              </a:ext>
            </a:extLst>
          </p:cNvPr>
          <p:cNvSpPr/>
          <p:nvPr/>
        </p:nvSpPr>
        <p:spPr>
          <a:xfrm>
            <a:off x="5047488" y="1913382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4C96CCF-F0F6-61FE-CE11-4E343A6CC6AC}"/>
              </a:ext>
            </a:extLst>
          </p:cNvPr>
          <p:cNvSpPr/>
          <p:nvPr/>
        </p:nvSpPr>
        <p:spPr>
          <a:xfrm>
            <a:off x="5093208" y="191338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Fronx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633625B-FCE8-52F5-2C6A-B43D9B4F12EE}"/>
              </a:ext>
            </a:extLst>
          </p:cNvPr>
          <p:cNvSpPr/>
          <p:nvPr/>
        </p:nvSpPr>
        <p:spPr>
          <a:xfrm>
            <a:off x="7790688" y="182194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-55.07%</a:t>
            </a:r>
            <a:endParaRPr lang="en-US" sz="13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9F79ACC-C4AA-5F9B-8F50-9C8616BB939E}"/>
              </a:ext>
            </a:extLst>
          </p:cNvPr>
          <p:cNvSpPr/>
          <p:nvPr/>
        </p:nvSpPr>
        <p:spPr>
          <a:xfrm>
            <a:off x="274320" y="2535174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3FF4F7B-9118-D0F3-67AE-136B4D8B21EF}"/>
              </a:ext>
            </a:extLst>
          </p:cNvPr>
          <p:cNvSpPr/>
          <p:nvPr/>
        </p:nvSpPr>
        <p:spPr>
          <a:xfrm>
            <a:off x="320040" y="2535174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Jan-Feb</a:t>
            </a:r>
            <a:endParaRPr lang="en-US" sz="12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1097EEE-0575-6912-838A-4548DCDD7A8A}"/>
              </a:ext>
            </a:extLst>
          </p:cNvPr>
          <p:cNvSpPr/>
          <p:nvPr/>
        </p:nvSpPr>
        <p:spPr>
          <a:xfrm>
            <a:off x="1389888" y="2626614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561C359-B79F-B0FD-A7B5-EBA141027BBA}"/>
              </a:ext>
            </a:extLst>
          </p:cNvPr>
          <p:cNvSpPr/>
          <p:nvPr/>
        </p:nvSpPr>
        <p:spPr>
          <a:xfrm>
            <a:off x="1435608" y="262661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Fronx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56780A7-6B2D-F91F-F8AD-4E72C9CDBB08}"/>
              </a:ext>
            </a:extLst>
          </p:cNvPr>
          <p:cNvSpPr/>
          <p:nvPr/>
        </p:nvSpPr>
        <p:spPr>
          <a:xfrm>
            <a:off x="4023360" y="2535174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+3.92%</a:t>
            </a:r>
            <a:endParaRPr lang="en-US" sz="13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65781A8-6381-3E54-28BD-683B31AC5C19}"/>
              </a:ext>
            </a:extLst>
          </p:cNvPr>
          <p:cNvSpPr/>
          <p:nvPr/>
        </p:nvSpPr>
        <p:spPr>
          <a:xfrm>
            <a:off x="5047488" y="2626614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155E17C-7A9D-1784-68CE-52E993601781}"/>
              </a:ext>
            </a:extLst>
          </p:cNvPr>
          <p:cNvSpPr/>
          <p:nvPr/>
        </p:nvSpPr>
        <p:spPr>
          <a:xfrm>
            <a:off x="5093208" y="262661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Nexon</a:t>
            </a: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C53E107-54A7-574B-2919-9B953B827231}"/>
              </a:ext>
            </a:extLst>
          </p:cNvPr>
          <p:cNvSpPr/>
          <p:nvPr/>
        </p:nvSpPr>
        <p:spPr>
          <a:xfrm>
            <a:off x="7790688" y="253517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-20.25%</a:t>
            </a:r>
            <a:endParaRPr lang="en-US" sz="13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E33B094-645C-1C98-F56F-A63B187189F4}"/>
              </a:ext>
            </a:extLst>
          </p:cNvPr>
          <p:cNvSpPr/>
          <p:nvPr/>
        </p:nvSpPr>
        <p:spPr>
          <a:xfrm>
            <a:off x="274320" y="3248406"/>
            <a:ext cx="859536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D5205E0-58AA-2062-1CEC-87886F158C4F}"/>
              </a:ext>
            </a:extLst>
          </p:cNvPr>
          <p:cNvSpPr/>
          <p:nvPr/>
        </p:nvSpPr>
        <p:spPr>
          <a:xfrm>
            <a:off x="320040" y="3248406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Feb-Mar</a:t>
            </a:r>
            <a:endParaRPr lang="en-US" sz="12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5D1F6BA-B97D-6777-1889-4AF5A0806D76}"/>
              </a:ext>
            </a:extLst>
          </p:cNvPr>
          <p:cNvSpPr/>
          <p:nvPr/>
        </p:nvSpPr>
        <p:spPr>
          <a:xfrm>
            <a:off x="1389888" y="3339846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213B5C1-36AD-4760-E1B2-9D561CB4183A}"/>
              </a:ext>
            </a:extLst>
          </p:cNvPr>
          <p:cNvSpPr/>
          <p:nvPr/>
        </p:nvSpPr>
        <p:spPr>
          <a:xfrm>
            <a:off x="1435608" y="333984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Wagon R</a:t>
            </a:r>
            <a:endParaRPr lang="en-US" sz="12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77B0A23-AEC2-3AF1-9D2A-17A79E8B59CE}"/>
              </a:ext>
            </a:extLst>
          </p:cNvPr>
          <p:cNvSpPr/>
          <p:nvPr/>
        </p:nvSpPr>
        <p:spPr>
          <a:xfrm>
            <a:off x="4023360" y="3248406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+12.57%</a:t>
            </a:r>
            <a:endParaRPr lang="en-US" sz="13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77985CF6-31E9-D171-2A8E-7F5E713C5693}"/>
              </a:ext>
            </a:extLst>
          </p:cNvPr>
          <p:cNvSpPr/>
          <p:nvPr/>
        </p:nvSpPr>
        <p:spPr>
          <a:xfrm>
            <a:off x="5047488" y="3339846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650AF31-FFCE-FF0E-9FF3-94EB17DD1F15}"/>
              </a:ext>
            </a:extLst>
          </p:cNvPr>
          <p:cNvSpPr/>
          <p:nvPr/>
        </p:nvSpPr>
        <p:spPr>
          <a:xfrm>
            <a:off x="5093208" y="333984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Brezza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2AF42BF-4DA5-38F9-4836-DF6FBA23210B}"/>
              </a:ext>
            </a:extLst>
          </p:cNvPr>
          <p:cNvSpPr/>
          <p:nvPr/>
        </p:nvSpPr>
        <p:spPr>
          <a:xfrm>
            <a:off x="7790688" y="3248406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-10.74%</a:t>
            </a:r>
            <a:endParaRPr lang="en-US" sz="13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D2F17C13-FFEF-C2DD-B7AA-F5C57CF14597}"/>
              </a:ext>
            </a:extLst>
          </p:cNvPr>
          <p:cNvSpPr/>
          <p:nvPr/>
        </p:nvSpPr>
        <p:spPr>
          <a:xfrm>
            <a:off x="274320" y="3961638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64D77612-253C-6886-ABF3-7013BF92E5E7}"/>
              </a:ext>
            </a:extLst>
          </p:cNvPr>
          <p:cNvSpPr/>
          <p:nvPr/>
        </p:nvSpPr>
        <p:spPr>
          <a:xfrm>
            <a:off x="320040" y="3961638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Mar-Apr</a:t>
            </a:r>
            <a:endParaRPr lang="en-US" sz="12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137A4477-A0F9-A5F4-E01F-4EBE4864D6B4}"/>
              </a:ext>
            </a:extLst>
          </p:cNvPr>
          <p:cNvSpPr/>
          <p:nvPr/>
        </p:nvSpPr>
        <p:spPr>
          <a:xfrm>
            <a:off x="1389888" y="4053078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F9999BA-20F7-8AA2-6927-B48BEBA840FA}"/>
              </a:ext>
            </a:extLst>
          </p:cNvPr>
          <p:cNvSpPr/>
          <p:nvPr/>
        </p:nvSpPr>
        <p:spPr>
          <a:xfrm>
            <a:off x="1435608" y="405307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Swift</a:t>
            </a: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5FE6F0E-C737-DD1D-E134-23BD12802F90}"/>
              </a:ext>
            </a:extLst>
          </p:cNvPr>
          <p:cNvSpPr/>
          <p:nvPr/>
        </p:nvSpPr>
        <p:spPr>
          <a:xfrm>
            <a:off x="4023360" y="396163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+18.42%</a:t>
            </a:r>
            <a:endParaRPr lang="en-US" sz="13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F8552BC6-B167-DB08-6BB5-FCCFF724FEB3}"/>
              </a:ext>
            </a:extLst>
          </p:cNvPr>
          <p:cNvSpPr/>
          <p:nvPr/>
        </p:nvSpPr>
        <p:spPr>
          <a:xfrm>
            <a:off x="5047488" y="4053078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BE96BC31-4562-34EA-DE70-CA8D640E0D59}"/>
              </a:ext>
            </a:extLst>
          </p:cNvPr>
          <p:cNvSpPr/>
          <p:nvPr/>
        </p:nvSpPr>
        <p:spPr>
          <a:xfrm>
            <a:off x="5093208" y="405307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Creta</a:t>
            </a:r>
            <a:endParaRPr lang="en-US" sz="12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134D1087-AEDC-4A92-FB5D-23863EEF0C56}"/>
              </a:ext>
            </a:extLst>
          </p:cNvPr>
          <p:cNvSpPr/>
          <p:nvPr/>
        </p:nvSpPr>
        <p:spPr>
          <a:xfrm>
            <a:off x="7790688" y="396163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-16.66%</a:t>
            </a:r>
            <a:endParaRPr lang="en-US" sz="13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CD601363-98E0-512C-9387-1095C7A43F9C}"/>
              </a:ext>
            </a:extLst>
          </p:cNvPr>
          <p:cNvSpPr/>
          <p:nvPr/>
        </p:nvSpPr>
        <p:spPr>
          <a:xfrm>
            <a:off x="274320" y="465658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EA3BA180-18C5-B2D5-D692-886AED54C8A3}"/>
              </a:ext>
            </a:extLst>
          </p:cNvPr>
          <p:cNvSpPr/>
          <p:nvPr/>
        </p:nvSpPr>
        <p:spPr>
          <a:xfrm>
            <a:off x="365760" y="467487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Overall Best MoM:  Baleno  +37.65% (Nov→Dec)        📉  Overall Worst MoM:  Fronx  -55.07% (Dec→Jan)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0751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Segment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744956956"/>
              </p:ext>
            </p:extLst>
          </p:nvPr>
        </p:nvGraphicFramePr>
        <p:xfrm>
          <a:off x="365760" y="868680"/>
          <a:ext cx="4114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Breakdown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54880" y="137160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46320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06440" y="1417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1.47M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1572768"/>
            <a:ext cx="164592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1572768"/>
            <a:ext cx="936528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4630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56.9%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205740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46320" y="2103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Hatchback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06440" y="2103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547K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2258568"/>
            <a:ext cx="164592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75120" y="2258568"/>
            <a:ext cx="34893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1488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274320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46320" y="27889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06440" y="2788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251K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75120" y="2944368"/>
            <a:ext cx="164592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75120" y="2944368"/>
            <a:ext cx="159654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21040" y="28346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342900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846320" y="34747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MPV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806440" y="34747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213K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675120" y="3630168"/>
            <a:ext cx="164592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75120" y="3630168"/>
            <a:ext cx="136611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21040" y="35204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54880" y="411480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846320" y="4160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806440" y="4160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29K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675120" y="4315968"/>
            <a:ext cx="164592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675120" y="4315968"/>
            <a:ext cx="45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21040" y="42062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D2137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Maruti Suzuki's Unshakeable Lead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40.3% market share and 7 models in the Top 10, Maruti Suzuki remains the dominant force driven by affordable, fuel-efficient vehicles.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91440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D2137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Tata's Rapid Rise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35331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Nexon (#1 overall) and Punch (#3) show Tata's successful pivot to SUVs. Combined they sell 40K+ units per month.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D2137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February Slump is Seasonal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70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saw a dip in February 2026 (-7.74% overall), a recurring post-budget, inter-festive pattern in Indian auto sales.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33172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D2137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423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 EV Adoption Still Early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770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10+ EV models tracked, total EV sales were just 29K units (1.1%) over 6 months. MG Windsor EV leads at ~20K units.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D2137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New Launches Drove April Surge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8795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saw the biggest MoM jump (+12.93%) fuelled by new entries — Renault Duster, Nissan Gravite, and Tata Sierra ramping up.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74904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0D2137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840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Price vs Volume Relationship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18795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segment (under ₹10L) dominates volume. Premium SUVs (Fortuner, Meridian) have high prices but low sales volumes.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Components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07008"/>
            <a:ext cx="438912" cy="438912"/>
          </a:xfrm>
          <a:prstGeom prst="ellipse">
            <a:avLst/>
          </a:prstGeom>
          <a:solidFill>
            <a:srgbClr val="CC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8408" y="9875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3258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Best Model, Total SUV Sales, Leading Vehicle Segment — all dynamic with Month slicer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0328" y="1207008"/>
            <a:ext cx="438912" cy="438912"/>
          </a:xfrm>
          <a:prstGeom prst="ellipse">
            <a:avLst/>
          </a:prstGeom>
          <a:solidFill>
            <a:srgbClr val="CC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207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58968" y="9875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Company Treemap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58968" y="13258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from company → model level. Click any company to filter the entire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2578608"/>
            <a:ext cx="438912" cy="438912"/>
          </a:xfrm>
          <a:prstGeom prst="ellipse">
            <a:avLst/>
          </a:prstGeom>
          <a:solidFill>
            <a:srgbClr val="CC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578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8408" y="23591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MoM% Heatmap Matrix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26974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Red/Green matrix showing MoM% change per model across all 6 months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2860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0328" y="2578608"/>
            <a:ext cx="438912" cy="438912"/>
          </a:xfrm>
          <a:prstGeom prst="ellipse">
            <a:avLst/>
          </a:prstGeom>
          <a:solidFill>
            <a:srgbClr val="CC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578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58968" y="23591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Models Bar Chart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58968" y="26974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total 6-month sales, color-coded by company for quick brand identification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3950208"/>
            <a:ext cx="438912" cy="438912"/>
          </a:xfrm>
          <a:prstGeom prst="ellipse">
            <a:avLst/>
          </a:prstGeom>
          <a:solidFill>
            <a:srgbClr val="CC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950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" y="37307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Model — Monthly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" y="40690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Multi-bar chart comparing each model's monthly performance across 6 months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0328" y="3950208"/>
            <a:ext cx="438912" cy="438912"/>
          </a:xfrm>
          <a:prstGeom prst="ellipse">
            <a:avLst/>
          </a:prstGeom>
          <a:solidFill>
            <a:srgbClr val="CC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3950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58968" y="37307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58968" y="40690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chart showing sales volume vs average price per vehicle segment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0D2137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61872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618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161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Leadership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controls 40% of volume — affordable pricing is key to Indian market dominance.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0D2137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157984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579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 is 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359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57% of all sales are SUVs, reflecting a clear shift in consumer preference.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0D2137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054096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54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953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 Matter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2552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analysis reveals consistent Feb dip and year-end + April surges — critical for inventory planning.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85616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0D2137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950208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502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8496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Need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1513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multiple launches, EV adoption remains at ~1% — infrastructure and price are barriers.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617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1136</Words>
  <Application>Microsoft Office PowerPoint</Application>
  <PresentationFormat>On-screen Show (16:9)</PresentationFormat>
  <Paragraphs>205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Automobile Sales Analysis</dc:title>
  <dc:subject>PptxGenJS Presentation</dc:subject>
  <dc:creator>PptxGenJS</dc:creator>
  <cp:lastModifiedBy>Navneet Beniwal</cp:lastModifiedBy>
  <cp:revision>3</cp:revision>
  <dcterms:created xsi:type="dcterms:W3CDTF">2026-06-10T05:54:00Z</dcterms:created>
  <dcterms:modified xsi:type="dcterms:W3CDTF">2026-06-11T08:33:10Z</dcterms:modified>
</cp:coreProperties>
</file>